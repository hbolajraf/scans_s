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92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315678"/>
            <a:ext cx="842962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415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INVENTAIRE</a:t>
            </a:r>
            <a:r>
              <a:rPr lang="en-US" sz="415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415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MONITORING,</a:t>
            </a:r>
            <a:r>
              <a:rPr lang="en-US" sz="415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415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ALERTING &amp;</a:t>
            </a:r>
            <a:r>
              <a:rPr lang="en-US" sz="415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415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REPORTING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14375" y="3458803"/>
            <a:ext cx="4738092" cy="485775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Shape 2"/>
          <p:cNvSpPr/>
          <p:nvPr/>
        </p:nvSpPr>
        <p:spPr>
          <a:xfrm>
            <a:off x="714375" y="3908859"/>
            <a:ext cx="4738092" cy="35719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" y="3562387"/>
            <a:ext cx="4566642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Vision Globale et Objectifs Stratégiques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14375" y="3983868"/>
            <a:ext cx="84296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787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DÉDIÉ AUX ÉQUIPES DEV &amp; BA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-85725"/>
            <a:ext cx="9029700" cy="517921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-85725"/>
            <a:ext cx="6072188" cy="571500"/>
          </a:xfrm>
          <a:prstGeom prst="rect">
            <a:avLst/>
          </a:prstGeom>
          <a:solidFill>
            <a:srgbClr val="1D7874"/>
          </a:solidFill>
          <a:ln/>
        </p:spPr>
      </p:sp>
      <p:sp>
        <p:nvSpPr>
          <p:cNvPr id="4" name="Text 1"/>
          <p:cNvSpPr/>
          <p:nvPr/>
        </p:nvSpPr>
        <p:spPr>
          <a:xfrm>
            <a:off x="414338" y="-8930"/>
            <a:ext cx="5468541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4F5F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DYNATRACE : PERFORMANCE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414338" y="1057275"/>
            <a:ext cx="1638765" cy="494705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6" name="Text 3"/>
          <p:cNvSpPr/>
          <p:nvPr/>
        </p:nvSpPr>
        <p:spPr>
          <a:xfrm>
            <a:off x="414338" y="1057275"/>
            <a:ext cx="1638765" cy="49470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5F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COMPOSANT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053103" y="1057275"/>
            <a:ext cx="3574219" cy="494705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8" name="Text 5"/>
          <p:cNvSpPr/>
          <p:nvPr/>
        </p:nvSpPr>
        <p:spPr>
          <a:xfrm>
            <a:off x="2053103" y="1057275"/>
            <a:ext cx="3574219" cy="49470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5F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FONCTIONNALITÉ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27322" y="1057275"/>
            <a:ext cx="3216641" cy="494705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10" name="Text 7"/>
          <p:cNvSpPr/>
          <p:nvPr/>
        </p:nvSpPr>
        <p:spPr>
          <a:xfrm>
            <a:off x="5627322" y="1057275"/>
            <a:ext cx="3216641" cy="49470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5F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VALEUR AJOUTÉE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4338" y="1551980"/>
            <a:ext cx="1638765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787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Synthetic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053103" y="1551980"/>
            <a:ext cx="3574219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Simulation de parcours (Auth, Paiement)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627322" y="1551980"/>
            <a:ext cx="3216641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Détection 24/7 avant impact client.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14338" y="2018109"/>
            <a:ext cx="1638765" cy="47327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787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Requests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053103" y="2018109"/>
            <a:ext cx="3574219" cy="47327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Suivi `/login`, `/payment`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627322" y="2018109"/>
            <a:ext cx="3216641" cy="47327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Optimisation des temps de réponse.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14338" y="2491383"/>
            <a:ext cx="1638765" cy="47327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787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Dashboards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053103" y="2491383"/>
            <a:ext cx="3574219" cy="47327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Vision de bout en bout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27322" y="2491383"/>
            <a:ext cx="3216641" cy="47327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Corrélation complète Front-to-DB.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35806" y="3286125"/>
            <a:ext cx="149661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RÉDUCTION DU MTTR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768203" y="3286125"/>
            <a:ext cx="18716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DISPONIBILITÉ PROACTIVE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175647" y="3286125"/>
            <a:ext cx="140374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EXPÉRIENCE CLIENT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357188"/>
            <a:ext cx="9029700" cy="517921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357188"/>
            <a:ext cx="6786563" cy="571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1"/>
          <p:cNvSpPr/>
          <p:nvPr/>
        </p:nvSpPr>
        <p:spPr>
          <a:xfrm>
            <a:off x="414338" y="225028"/>
            <a:ext cx="6429375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ELK : INFRASTRUCTURE &amp; SCALING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414338" y="1171575"/>
            <a:ext cx="4036219" cy="1920106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1D787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"Le monitoring de l'infrastructure n'est plus seulement une question de disponibilité, mais de corrélation entre la charge trafic et l'efficience des ressources."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207794" y="1214438"/>
            <a:ext cx="1546622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MORNING CHECK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207794" y="1689497"/>
            <a:ext cx="1546622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Validation quotidienne automatisée de l'état de santé de la plateforme après la nuit.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297341" y="1214438"/>
            <a:ext cx="1546622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POD SCALING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297341" y="1480542"/>
            <a:ext cx="1546622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Vérification du comportement de l'autoscaling Kubernetes face aux variations de trafic.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207794" y="2996803"/>
            <a:ext cx="363616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S2E PERFORMANCE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07794" y="3262908"/>
            <a:ext cx="36361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Monitoring des appels externes et gestion des quotas de consommation en temps réel.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71437"/>
            <a:ext cx="6429375" cy="571500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4" name="Text 1"/>
          <p:cNvSpPr/>
          <p:nvPr/>
        </p:nvSpPr>
        <p:spPr>
          <a:xfrm>
            <a:off x="357188" y="5358"/>
            <a:ext cx="5161359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4F5F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ELK : TECHNIQUE &amp; BATCHS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357188" y="785813"/>
            <a:ext cx="3701774" cy="1610469"/>
          </a:xfrm>
          <a:prstGeom prst="rect">
            <a:avLst/>
          </a:prstGeom>
          <a:solidFill>
            <a:srgbClr val="1D7874"/>
          </a:solidFill>
          <a:ln/>
        </p:spPr>
      </p:sp>
      <p:sp>
        <p:nvSpPr>
          <p:cNvPr id="6" name="Shape 3"/>
          <p:cNvSpPr/>
          <p:nvPr/>
        </p:nvSpPr>
        <p:spPr>
          <a:xfrm>
            <a:off x="357188" y="2360563"/>
            <a:ext cx="3701774" cy="35719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4"/>
          <p:cNvSpPr/>
          <p:nvPr/>
        </p:nvSpPr>
        <p:spPr>
          <a:xfrm>
            <a:off x="500063" y="1100138"/>
            <a:ext cx="3416024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5F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EXCEPTIONS APPLICATIVES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0063" y="1394817"/>
            <a:ext cx="3416024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4F5F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Centralisation des erreurs Java, NullPointerExceptions et Timeouts pour accélérer le diagnostic technique et faciliter le travail des développeurs lors de l'analyse post-incident.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4712" y="785813"/>
            <a:ext cx="1081664" cy="38754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7"/>
          <p:cNvSpPr/>
          <p:nvPr/>
        </p:nvSpPr>
        <p:spPr>
          <a:xfrm>
            <a:off x="4344712" y="785813"/>
            <a:ext cx="1081664" cy="387548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KPI BATCH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26376" y="785813"/>
            <a:ext cx="3360437" cy="38754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9"/>
          <p:cNvSpPr/>
          <p:nvPr/>
        </p:nvSpPr>
        <p:spPr>
          <a:xfrm>
            <a:off x="5426376" y="785813"/>
            <a:ext cx="3360437" cy="38754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344712" y="1173361"/>
            <a:ext cx="1081664" cy="49291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787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Success Rate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26376" y="1173361"/>
            <a:ext cx="3360437" cy="49291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Pourcentage de traitements terminés sans erreur.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344712" y="1666280"/>
            <a:ext cx="1081664" cy="342900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787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26376" y="1666280"/>
            <a:ext cx="3360437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Temps de traitement total vs fenêtre de nuit.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344712" y="2009180"/>
            <a:ext cx="1081664" cy="342900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787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Error Count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26376" y="2009180"/>
            <a:ext cx="3360437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Nombre d'exceptions levées durant l'exécution.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57188"/>
            <a:ext cx="6429375" cy="642938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4" name="Text 1"/>
          <p:cNvSpPr/>
          <p:nvPr/>
        </p:nvSpPr>
        <p:spPr>
          <a:xfrm>
            <a:off x="357188" y="487561"/>
            <a:ext cx="537210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A26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ALERTING : RÉACTIVITÉ &amp; MTTR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764381" y="1357313"/>
            <a:ext cx="36647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Automatisation P2</a:t>
            </a:r>
            <a:r>
              <a:rPr lang="en-US" sz="10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: Création immédiate </a:t>
            </a:r>
            <a:r>
              <a:rPr lang="en-US" sz="10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d'incidents sur échec de parcours critique.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64381" y="1843088"/>
            <a:ext cx="36647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Réduction du MTTR</a:t>
            </a:r>
            <a:r>
              <a:rPr lang="en-US" sz="10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: Notification instantanée </a:t>
            </a:r>
            <a:r>
              <a:rPr lang="en-US" sz="10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des experts pour minimiser le temps de </a:t>
            </a:r>
            <a:r>
              <a:rPr lang="en-US" sz="10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réparation.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64381" y="2528888"/>
            <a:ext cx="36647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Protection Data</a:t>
            </a:r>
            <a:r>
              <a:rPr lang="en-US" sz="10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: Prévention proactive de la </a:t>
            </a:r>
            <a:r>
              <a:rPr lang="en-US" sz="10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saturation des bases de données.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14875" y="1357313"/>
            <a:ext cx="4071938" cy="2450306"/>
          </a:xfrm>
          <a:prstGeom prst="rect">
            <a:avLst/>
          </a:prstGeom>
          <a:solidFill>
            <a:srgbClr val="1D7874"/>
          </a:solidFill>
          <a:ln/>
        </p:spPr>
      </p:sp>
      <p:sp>
        <p:nvSpPr>
          <p:cNvPr id="9" name="Shape 6"/>
          <p:cNvSpPr/>
          <p:nvPr/>
        </p:nvSpPr>
        <p:spPr>
          <a:xfrm>
            <a:off x="4714875" y="3771900"/>
            <a:ext cx="4071938" cy="35719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7"/>
          <p:cNvSpPr/>
          <p:nvPr/>
        </p:nvSpPr>
        <p:spPr>
          <a:xfrm>
            <a:off x="4857750" y="1485900"/>
            <a:ext cx="37861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5F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SEUILS CRITIQUES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57750" y="1928813"/>
            <a:ext cx="3470077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4A26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CPU &gt; 90%</a:t>
            </a:r>
            <a:r>
              <a:rPr lang="en-US" sz="1150" dirty="0">
                <a:solidFill>
                  <a:srgbClr val="F4F5F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
</a:t>
            </a:r>
            <a:r>
              <a:rPr lang="en-US" sz="1150" dirty="0">
                <a:solidFill>
                  <a:srgbClr val="F4F5F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Pendant plus de 10 minutes sur SQL Server.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857750" y="2511698"/>
            <a:ext cx="3109317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4A26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LATENCE &gt; 5s</a:t>
            </a:r>
            <a:r>
              <a:rPr lang="en-US" sz="1150" dirty="0">
                <a:solidFill>
                  <a:srgbClr val="F4F5F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
</a:t>
            </a:r>
            <a:r>
              <a:rPr lang="en-US" sz="1150" dirty="0">
                <a:solidFill>
                  <a:srgbClr val="F4F5F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Sur les APIs critiques (Login, Payment).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857750" y="3094583"/>
            <a:ext cx="3473648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4A26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ALERTE MAIL</a:t>
            </a:r>
            <a:r>
              <a:rPr lang="en-US" sz="1150" dirty="0">
                <a:solidFill>
                  <a:srgbClr val="F4F5F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
</a:t>
            </a:r>
            <a:r>
              <a:rPr lang="en-US" sz="1150" dirty="0">
                <a:solidFill>
                  <a:srgbClr val="F4F5F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Notification directe aux équipes d'astreinte.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7144"/>
            <a:ext cx="7143750" cy="571500"/>
          </a:xfrm>
          <a:prstGeom prst="rect">
            <a:avLst/>
          </a:prstGeom>
          <a:solidFill>
            <a:srgbClr val="1D7874"/>
          </a:solidFill>
          <a:ln/>
        </p:spPr>
      </p:sp>
      <p:sp>
        <p:nvSpPr>
          <p:cNvPr id="4" name="Text 1"/>
          <p:cNvSpPr/>
          <p:nvPr/>
        </p:nvSpPr>
        <p:spPr>
          <a:xfrm>
            <a:off x="357188" y="-87511"/>
            <a:ext cx="6786563" cy="732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4F5F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ALERTING ELK : MIDDLEWARE &amp; SÉCURITÉ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357188" y="992981"/>
            <a:ext cx="2666991" cy="3107531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6" name="Shape 3"/>
          <p:cNvSpPr/>
          <p:nvPr/>
        </p:nvSpPr>
        <p:spPr>
          <a:xfrm>
            <a:off x="357188" y="4064794"/>
            <a:ext cx="2666991" cy="35719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4"/>
          <p:cNvSpPr/>
          <p:nvPr/>
        </p:nvSpPr>
        <p:spPr>
          <a:xfrm>
            <a:off x="535781" y="1778794"/>
            <a:ext cx="230980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787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CACHE &amp; DB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35781" y="2089547"/>
            <a:ext cx="230980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5F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REDIS &amp; SQL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5781" y="2405658"/>
            <a:ext cx="230980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4F5F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Détection des exceptions de connexion Redis et des deadlocks SQL Server en temps réel.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35781" y="3127177"/>
            <a:ext cx="2309803" cy="392906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F4A26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Risque : Dégradation majeure des </a:t>
            </a:r>
            <a:r>
              <a:rPr lang="en-US" sz="850" i="1" dirty="0">
                <a:solidFill>
                  <a:srgbClr val="F4A26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performances applicatives.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38491" y="992981"/>
            <a:ext cx="2666991" cy="3107531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12" name="Shape 9"/>
          <p:cNvSpPr/>
          <p:nvPr/>
        </p:nvSpPr>
        <p:spPr>
          <a:xfrm>
            <a:off x="3238491" y="4064794"/>
            <a:ext cx="2666991" cy="35719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0"/>
          <p:cNvSpPr/>
          <p:nvPr/>
        </p:nvSpPr>
        <p:spPr>
          <a:xfrm>
            <a:off x="3417084" y="1778794"/>
            <a:ext cx="230980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787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STOCKAGE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417084" y="2089547"/>
            <a:ext cx="230980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5F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IBM COS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17084" y="2405658"/>
            <a:ext cx="230980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4F5F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Surveillance des timeouts et des erreurs de connectivité lors des flux d'upload/download.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417084" y="3127177"/>
            <a:ext cx="2309803" cy="392906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F4A26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Risque : Échec des traitements </a:t>
            </a:r>
            <a:r>
              <a:rPr lang="en-US" sz="850" i="1" dirty="0">
                <a:solidFill>
                  <a:srgbClr val="F4A26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documentaires critiques.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119794" y="992981"/>
            <a:ext cx="2667019" cy="3107531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18" name="Shape 15"/>
          <p:cNvSpPr/>
          <p:nvPr/>
        </p:nvSpPr>
        <p:spPr>
          <a:xfrm>
            <a:off x="6119794" y="4064794"/>
            <a:ext cx="2667019" cy="35719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6"/>
          <p:cNvSpPr/>
          <p:nvPr/>
        </p:nvSpPr>
        <p:spPr>
          <a:xfrm>
            <a:off x="6298388" y="1778794"/>
            <a:ext cx="230983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787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SÉCURITÉ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298388" y="2089547"/>
            <a:ext cx="230983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5F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CERTIFICATS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98388" y="2405658"/>
            <a:ext cx="230983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4F5F7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Alerte automatique 30 jours avant l'expiration des certificats SSL/TLS (IDP, MDL).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298388" y="3127177"/>
            <a:ext cx="2309831" cy="392906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F4A26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Risque : Rupture de service et blocage </a:t>
            </a:r>
            <a:r>
              <a:rPr lang="en-US" sz="850" i="1" dirty="0">
                <a:solidFill>
                  <a:srgbClr val="F4A26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des accès sécurisés.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78606"/>
            <a:ext cx="6429375" cy="571500"/>
          </a:xfrm>
          <a:prstGeom prst="rect">
            <a:avLst/>
          </a:prstGeom>
          <a:solidFill>
            <a:srgbClr val="1D7874"/>
          </a:solidFill>
          <a:ln/>
        </p:spPr>
      </p:sp>
      <p:sp>
        <p:nvSpPr>
          <p:cNvPr id="4" name="Text 1"/>
          <p:cNvSpPr/>
          <p:nvPr/>
        </p:nvSpPr>
        <p:spPr>
          <a:xfrm>
            <a:off x="357188" y="146447"/>
            <a:ext cx="6072188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4F5F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REPORTING &amp; AIDE À LA DÉCISION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1293019"/>
            <a:ext cx="8001000" cy="640035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"Le reporting n'est pas une simple archive, mais un outil d'aide à la décision pour orienter les futurs investissements techniques."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352541" y="2147367"/>
            <a:ext cx="628650" cy="628650"/>
          </a:xfrm>
          <a:prstGeom prst="ellipse">
            <a:avLst/>
          </a:prstGeom>
          <a:solidFill>
            <a:srgbClr val="0A2239"/>
          </a:solidFill>
          <a:ln w="27432">
            <a:solidFill>
              <a:srgbClr val="F4A26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566" y="2318817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6069" y="2976042"/>
            <a:ext cx="1321594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787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GLOBAL VIEW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57188" y="3242146"/>
            <a:ext cx="261938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Vue consolidée de la santé applicative pour le Management et les Tech Leads.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257675" y="2147367"/>
            <a:ext cx="628650" cy="628650"/>
          </a:xfrm>
          <a:prstGeom prst="ellipse">
            <a:avLst/>
          </a:prstGeom>
          <a:solidFill>
            <a:srgbClr val="0A2239"/>
          </a:solidFill>
          <a:ln w="27432">
            <a:solidFill>
              <a:srgbClr val="F4A261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988" y="2318817"/>
            <a:ext cx="200025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88841" y="2976042"/>
            <a:ext cx="1966317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787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DATALAKE SYNCHRO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262322" y="3242146"/>
            <a:ext cx="261938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Garantie de la cohérence des données entre systèmes opérationnels et décisionnels.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7162809" y="2147367"/>
            <a:ext cx="628650" cy="628650"/>
          </a:xfrm>
          <a:prstGeom prst="ellipse">
            <a:avLst/>
          </a:prstGeom>
          <a:solidFill>
            <a:srgbClr val="0A2239"/>
          </a:solidFill>
          <a:ln w="27432">
            <a:solidFill>
              <a:srgbClr val="F4A261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834" y="2318817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52899" y="2976042"/>
            <a:ext cx="204847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787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AUDIT &amp; TRAÇABILITÉ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167456" y="3242146"/>
            <a:ext cx="261938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Historisation complète pour les analyses post-mortem et la conformité.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57188"/>
            <a:ext cx="7143750" cy="51435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1"/>
          <p:cNvSpPr/>
          <p:nvPr/>
        </p:nvSpPr>
        <p:spPr>
          <a:xfrm>
            <a:off x="357188" y="431304"/>
            <a:ext cx="6700838" cy="366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ELK : ANALYSE D'USAGE HEBDOMADAIRE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285750" y="1042988"/>
            <a:ext cx="8572500" cy="7072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Chaque semaine, des exports détaillés des points d'accès API permettent d'analyser les tendances de consommation. Ces rapports aident les Business Analysts à comprendre l'usage réel des services et permettent d'anticiper les besoins de capacity planning.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285750" y="1893094"/>
            <a:ext cx="2619719" cy="305395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7" name="Text 4"/>
          <p:cNvSpPr/>
          <p:nvPr/>
        </p:nvSpPr>
        <p:spPr>
          <a:xfrm>
            <a:off x="285750" y="1893094"/>
            <a:ext cx="2619719" cy="30539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5F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RAPPORT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05469" y="1893094"/>
            <a:ext cx="2059939" cy="305395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9" name="Text 6"/>
          <p:cNvSpPr/>
          <p:nvPr/>
        </p:nvSpPr>
        <p:spPr>
          <a:xfrm>
            <a:off x="2905469" y="1893094"/>
            <a:ext cx="2059939" cy="30539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5F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FRÉQUENCE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5409" y="1893094"/>
            <a:ext cx="3892841" cy="305395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11" name="Text 8"/>
          <p:cNvSpPr/>
          <p:nvPr/>
        </p:nvSpPr>
        <p:spPr>
          <a:xfrm>
            <a:off x="4965409" y="1893094"/>
            <a:ext cx="3892841" cy="30539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5F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DESTINATAIRES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85750" y="2198489"/>
            <a:ext cx="2619719" cy="29468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787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Export Endpoints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905469" y="2198489"/>
            <a:ext cx="2059939" cy="29468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Hebdomadaire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965409" y="2198489"/>
            <a:ext cx="3892841" cy="29468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Business Analysts &amp; Architectes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85750" y="2493169"/>
            <a:ext cx="2619719" cy="30182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787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Historique S2E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905469" y="2493169"/>
            <a:ext cx="2059939" cy="30182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Mensuel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965409" y="2493169"/>
            <a:ext cx="3892841" cy="30182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Management &amp; Équipes Ops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85750" y="2794992"/>
            <a:ext cx="2619719" cy="30182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787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Audit Logs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905469" y="2794992"/>
            <a:ext cx="2059939" cy="30182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Sur demande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965409" y="2794992"/>
            <a:ext cx="3892841" cy="30182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Sécurité &amp; Développeurs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7144"/>
            <a:ext cx="7143750" cy="571500"/>
          </a:xfrm>
          <a:prstGeom prst="rect">
            <a:avLst/>
          </a:prstGeom>
          <a:solidFill>
            <a:srgbClr val="1D7874"/>
          </a:solidFill>
          <a:ln/>
        </p:spPr>
      </p:sp>
      <p:sp>
        <p:nvSpPr>
          <p:cNvPr id="4" name="Text 1"/>
          <p:cNvSpPr/>
          <p:nvPr/>
        </p:nvSpPr>
        <p:spPr>
          <a:xfrm>
            <a:off x="357188" y="69652"/>
            <a:ext cx="5120283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4F5F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BÉNÉFICES : DEV, BA &amp; OPS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357188" y="992981"/>
            <a:ext cx="2400300" cy="466130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6" name="Text 3"/>
          <p:cNvSpPr/>
          <p:nvPr/>
        </p:nvSpPr>
        <p:spPr>
          <a:xfrm>
            <a:off x="357188" y="992981"/>
            <a:ext cx="2400300" cy="466130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PROFIL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57488" y="992981"/>
            <a:ext cx="6029325" cy="466130"/>
          </a:xfrm>
          <a:prstGeom prst="rect">
            <a:avLst/>
          </a:prstGeom>
          <a:solidFill>
            <a:srgbClr val="0A2239"/>
          </a:solidFill>
          <a:ln/>
        </p:spPr>
      </p:sp>
      <p:sp>
        <p:nvSpPr>
          <p:cNvPr id="8" name="Text 5"/>
          <p:cNvSpPr/>
          <p:nvPr/>
        </p:nvSpPr>
        <p:spPr>
          <a:xfrm>
            <a:off x="2757488" y="992981"/>
            <a:ext cx="6029325" cy="466130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BÉNÉFICES CLÉS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57188" y="1459111"/>
            <a:ext cx="2400300" cy="696516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787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ÉQUIPES DEV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757488" y="1459111"/>
            <a:ext cx="6029325" cy="696516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Diagnostic accéléré, réduction du bruit des alertes et focus sur les optimisations réelles basées sur les logs.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57188" y="2155627"/>
            <a:ext cx="2400300" cy="707231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787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BUSINESS ANALYSTS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757488" y="2155627"/>
            <a:ext cx="6029325" cy="707231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Vision claire de la disponibilité métier, KPIs fiables pour le pilotage et mesure de l'impact utilisateur réel.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57188" y="2862858"/>
            <a:ext cx="2400300" cy="707231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787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ÉQUIPES OPS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757488" y="2862858"/>
            <a:ext cx="6029325" cy="707231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Supervision centralisée, automatisation des contrôles quotidiens et meilleure sérénité en production.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57188" y="3723680"/>
            <a:ext cx="8429625" cy="19109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D787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Une synergie renforcée entre technique et métier pour une plateforme plus résiliente.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57188"/>
            <a:ext cx="7143750" cy="714375"/>
          </a:xfrm>
          <a:prstGeom prst="rect">
            <a:avLst/>
          </a:prstGeom>
          <a:solidFill>
            <a:srgbClr val="1D7874"/>
          </a:solidFill>
          <a:ln/>
        </p:spPr>
      </p:sp>
      <p:sp>
        <p:nvSpPr>
          <p:cNvPr id="4" name="Text 1"/>
          <p:cNvSpPr/>
          <p:nvPr/>
        </p:nvSpPr>
        <p:spPr>
          <a:xfrm>
            <a:off x="357188" y="505420"/>
            <a:ext cx="5611416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4F5F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FUTUR &amp; RECOMMANDATIONS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892969" y="1571625"/>
            <a:ext cx="928688" cy="928688"/>
          </a:xfrm>
          <a:prstGeom prst="ellipse">
            <a:avLst/>
          </a:prstGeom>
          <a:solidFill>
            <a:srgbClr val="F4A261"/>
          </a:solidFill>
          <a:ln w="36576">
            <a:solidFill>
              <a:srgbClr val="0A223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68896" y="1791295"/>
            <a:ext cx="376833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01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357188" y="2728913"/>
            <a:ext cx="20002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STANDARDISATION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57188" y="3228975"/>
            <a:ext cx="200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Unification des KPIs entre Dynatrace et ELK pour une lecture transverse et cohérente de la performance.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036094" y="1571625"/>
            <a:ext cx="928688" cy="928688"/>
          </a:xfrm>
          <a:prstGeom prst="ellipse">
            <a:avLst/>
          </a:prstGeom>
          <a:solidFill>
            <a:srgbClr val="1D7874"/>
          </a:solidFill>
          <a:ln w="36576">
            <a:solidFill>
              <a:srgbClr val="0A223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78981" y="1791295"/>
            <a:ext cx="442913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F4F5F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02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2500313" y="2728913"/>
            <a:ext cx="20002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AIOPS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500313" y="3228975"/>
            <a:ext cx="200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Intelligence artificielle pour l'alerting prédictif et l'analyse automatique des causes racines (Root Cause Analysis).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179219" y="1571625"/>
            <a:ext cx="928688" cy="928688"/>
          </a:xfrm>
          <a:prstGeom prst="ellipse">
            <a:avLst/>
          </a:prstGeom>
          <a:solidFill>
            <a:srgbClr val="F4A261"/>
          </a:solidFill>
          <a:ln w="36576">
            <a:solidFill>
              <a:srgbClr val="0A223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21213" y="1791295"/>
            <a:ext cx="444698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03</a:t>
            </a:r>
            <a:endParaRPr lang="en-US" sz="2450" dirty="0"/>
          </a:p>
        </p:txBody>
      </p:sp>
      <p:sp>
        <p:nvSpPr>
          <p:cNvPr id="15" name="Text 12"/>
          <p:cNvSpPr/>
          <p:nvPr/>
        </p:nvSpPr>
        <p:spPr>
          <a:xfrm>
            <a:off x="4643438" y="2728913"/>
            <a:ext cx="20002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CENTRALISATION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43438" y="3228975"/>
            <a:ext cx="200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Convergence vers un portail unique de dashboards pour toutes les équipes techniques et métiers.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322344" y="1571625"/>
            <a:ext cx="928688" cy="928688"/>
          </a:xfrm>
          <a:prstGeom prst="ellipse">
            <a:avLst/>
          </a:prstGeom>
          <a:solidFill>
            <a:srgbClr val="0A2239"/>
          </a:solidFill>
          <a:ln w="36576">
            <a:solidFill>
              <a:srgbClr val="0A223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45586" y="1791295"/>
            <a:ext cx="482203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F4F5F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04</a:t>
            </a:r>
            <a:endParaRPr lang="en-US" sz="2450" dirty="0"/>
          </a:p>
        </p:txBody>
      </p:sp>
      <p:sp>
        <p:nvSpPr>
          <p:cNvPr id="19" name="Text 16"/>
          <p:cNvSpPr/>
          <p:nvPr/>
        </p:nvSpPr>
        <p:spPr>
          <a:xfrm>
            <a:off x="6786563" y="2728913"/>
            <a:ext cx="20002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AUTOMATISATION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786563" y="3228975"/>
            <a:ext cx="2000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A2239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Généralisation des reportings automatiques et auto-remédiation des incidents mineurs.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0" y="4720233"/>
            <a:ext cx="9144000" cy="423267"/>
          </a:xfrm>
          <a:prstGeom prst="rect">
            <a:avLst/>
          </a:prstGeom>
          <a:noFill/>
          <a:ln/>
        </p:spPr>
        <p:txBody>
          <a:bodyPr wrap="square" lIns="425196" tIns="25514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2" kern="0" dirty="0">
                <a:solidFill>
                  <a:srgbClr val="1D787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VERS UNE SUPERVISION INTELLIGENTE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2026-06-02T18:48:34Z</dcterms:created>
  <dcterms:modified xsi:type="dcterms:W3CDTF">2026-06-02T18:48:34Z</dcterms:modified>
</cp:coreProperties>
</file>